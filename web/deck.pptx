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8B8B95"/>
                </a:solidFill>
                <a:latin typeface="Menlo"/>
              </a:rPr>
              <a:t>COVERED CALLS  ·  TOKENIZED EQUITIES  ·  SOLANA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595360" cy="915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6800" b="1" spc="-105">
                <a:solidFill>
                  <a:srgbClr val="EDEDF0"/>
                </a:solidFill>
                <a:latin typeface="Helvetica Neue"/>
              </a:rPr>
              <a:t>erodoro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94991"/>
            <a:ext cx="676656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B8B95"/>
                </a:solidFill>
                <a:latin typeface="Helvetica Neue"/>
              </a:rPr>
              <a:t>Lock a tokenized share, cap your upside at a strike you choose, and sell that upside to someone else for </a:t>
            </a:r>
            <a:r>
              <a:rPr sz="1500" b="1">
                <a:solidFill>
                  <a:srgbClr val="EDEDF0"/>
                </a:solidFill>
                <a:latin typeface="Helvetica Neue"/>
              </a:rPr>
              <a:t>cash today</a:t>
            </a:r>
            <a:r>
              <a:rPr sz="1500" b="0">
                <a:solidFill>
                  <a:srgbClr val="8B8B95"/>
                </a:solidFill>
                <a:latin typeface="Helvetica Neue"/>
              </a:rPr>
              <a:t>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017751" y="3710312"/>
            <a:ext cx="3953435" cy="0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017751" y="1628169"/>
            <a:ext cx="3953435" cy="2082143"/>
          </a:xfrm>
          <a:prstGeom prst="line">
            <a:avLst/>
          </a:prstGeom>
          <a:ln w="12700">
            <a:solidFill>
              <a:srgbClr val="5644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8994468" y="1628169"/>
            <a:ext cx="1976718" cy="1041072"/>
          </a:xfrm>
          <a:custGeom>
            <a:avLst/>
            <a:gdLst/>
            <a:ahLst/>
            <a:cxnLst/>
            <a:rect l="l" t="t" r="r" b="b"/>
            <a:pathLst>
              <a:path w="1976718" h="1041072">
                <a:moveTo>
                  <a:pt x="0" y="1041072"/>
                </a:moveTo>
                <a:lnTo>
                  <a:pt x="1976718" y="0"/>
                </a:lnTo>
                <a:lnTo>
                  <a:pt x="1976718" y="1041072"/>
                </a:lnTo>
                <a:close/>
              </a:path>
            </a:pathLst>
          </a:custGeom>
          <a:solidFill>
            <a:srgbClr val="1E1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994468" y="2669241"/>
            <a:ext cx="0" cy="1041071"/>
          </a:xfrm>
          <a:prstGeom prst="line">
            <a:avLst/>
          </a:prstGeom>
          <a:ln w="9525">
            <a:solidFill>
              <a:srgbClr val="8366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54388" y="3855271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33" b="0" spc="90">
                <a:solidFill>
                  <a:srgbClr val="8B8B95"/>
                </a:solidFill>
                <a:latin typeface="Menlo"/>
              </a:rPr>
              <a:t>STRIKE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017751" y="2669241"/>
            <a:ext cx="1976717" cy="1041071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94468" y="2669241"/>
            <a:ext cx="1976718" cy="0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91026" y="3855271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33" b="0" spc="90">
                <a:solidFill>
                  <a:srgbClr val="5C5C66"/>
                </a:solidFill>
                <a:latin typeface="Menlo"/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480560" cy="1511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 spc="80">
                <a:solidFill>
                  <a:srgbClr val="5C5C66"/>
                </a:solidFill>
                <a:latin typeface="Menlo"/>
              </a:rPr>
              <a:t>VALUE OF ONE LOCKED SHARE TO ITS OWNER, AGAINST PRICE AT 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694944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Not deployed to mainnet. Nothing here holds real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01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42471" y="2331720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01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595360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600" b="1" spc="-105">
                <a:solidFill>
                  <a:srgbClr val="EDEDF0"/>
                </a:solidFill>
                <a:latin typeface="Helvetica Neue"/>
              </a:rPr>
              <a:t>A tokenized share sits there</a:t>
            </a:r>
            <a:br/>
            <a:r>
              <a:rPr sz="3600" b="1" spc="-105">
                <a:solidFill>
                  <a:srgbClr val="EDEDF0"/>
                </a:solidFill>
                <a:latin typeface="Helvetica Neue"/>
              </a:rPr>
              <a:t>and pays you nothing.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39"/>
            <a:ext cx="6035040" cy="771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You hold 1 </a:t>
            </a:r>
            <a:r>
              <a:rPr sz="1350" b="0">
                <a:solidFill>
                  <a:srgbClr val="E86A3A"/>
                </a:solidFill>
                <a:latin typeface="Menlo"/>
              </a:rPr>
              <a:t>TSLAx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— a Tesla share that lives on Solana, worth </a:t>
            </a:r>
            <a:r>
              <a:rPr sz="1350" b="0">
                <a:solidFill>
                  <a:srgbClr val="8B8B95"/>
                </a:solidFill>
                <a:latin typeface="Menlo"/>
              </a:rPr>
              <a:t>$400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. Most of the time it will not reach </a:t>
            </a:r>
            <a:r>
              <a:rPr sz="1350" b="0">
                <a:solidFill>
                  <a:srgbClr val="8B8B95"/>
                </a:solidFill>
                <a:latin typeface="Menlo"/>
              </a:rPr>
              <a:t>$500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in three months, and you will have been paid nothing for the wait.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8108"/>
            <a:ext cx="603504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In traditional markets you would sell that unreached upside as a covered call and pocket the premium. That instrument needs a broker, an options desk, and a counterparty who can find you. </a:t>
            </a:r>
            <a:r>
              <a:rPr sz="1350" b="1">
                <a:solidFill>
                  <a:srgbClr val="EDEDF0"/>
                </a:solidFill>
                <a:latin typeface="Helvetica Neue"/>
              </a:rPr>
              <a:t>None of that reaches a token sitting in your wallet.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24436" y="3978177"/>
            <a:ext cx="3469341" cy="0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524436" y="2150991"/>
            <a:ext cx="3469341" cy="1827186"/>
          </a:xfrm>
          <a:prstGeom prst="line">
            <a:avLst/>
          </a:prstGeom>
          <a:ln w="12700">
            <a:solidFill>
              <a:srgbClr val="BB9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13617" y="410538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19" b="0" spc="90">
                <a:solidFill>
                  <a:srgbClr val="5C5C66"/>
                </a:solidFill>
                <a:latin typeface="Menlo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434840"/>
            <a:ext cx="3931920" cy="3022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 spc="80">
                <a:solidFill>
                  <a:srgbClr val="5C5C66"/>
                </a:solidFill>
                <a:latin typeface="Menlo"/>
              </a:rPr>
              <a:t>HOLDING IT PLAIN — EVERY DOLLAR YOURS, AND NONE OF IT PAID UP 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02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542471" y="2500884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02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601200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600" b="1" spc="-105">
                <a:solidFill>
                  <a:srgbClr val="EDEDF0"/>
                </a:solidFill>
                <a:latin typeface="Helvetica Neue"/>
              </a:rPr>
              <a:t>Lock the share. Split it in two. Sell one half.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39"/>
            <a:ext cx="10545775" cy="1503997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4338218" y="2148839"/>
            <a:ext cx="0" cy="1503998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53476" y="2148839"/>
            <a:ext cx="0" cy="1503998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992" y="2386583"/>
            <a:ext cx="300319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E86A3A"/>
                </a:solidFill>
                <a:latin typeface="Menlo"/>
              </a:rPr>
              <a:t>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3003194" cy="7267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Deposit 1 TSLAx, pick a strike of $500 and a maturity three months out. The vault mints you two tokens against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4250" y="2386583"/>
            <a:ext cx="300319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4A9D7F"/>
                </a:solidFill>
                <a:latin typeface="Menlo"/>
              </a:rPr>
              <a:t>P — 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4250" y="2715768"/>
            <a:ext cx="3003194" cy="7267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The share, capped at the strike. This is the half you 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9508" y="2386583"/>
            <a:ext cx="300319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E8B23A"/>
                </a:solidFill>
                <a:latin typeface="Menlo"/>
              </a:rPr>
              <a:t>N — 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9508" y="2715768"/>
            <a:ext cx="3003194" cy="7267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Everything above the strike. Sell it for maybe $15. That cash is yours immediately, whatever happens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45445"/>
            <a:ext cx="9509760" cy="771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In traditional terms the </a:t>
            </a:r>
            <a:r>
              <a:rPr sz="1350" b="0">
                <a:solidFill>
                  <a:srgbClr val="4A9D7F"/>
                </a:solidFill>
                <a:latin typeface="Menlo"/>
              </a:rPr>
              <a:t>P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holder has written a covered call and the </a:t>
            </a:r>
            <a:r>
              <a:rPr sz="1350" b="0">
                <a:solidFill>
                  <a:srgbClr val="E8B23A"/>
                </a:solidFill>
                <a:latin typeface="Menlo"/>
              </a:rPr>
              <a:t>N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holder owns it. Both halves are ordinary tokens and trade independently. Hand back equal amounts of each and the original share comes straight back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03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542471" y="2670048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03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6400800" cy="86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200" b="1" spc="-105">
                <a:solidFill>
                  <a:srgbClr val="EDEDF0"/>
                </a:solidFill>
                <a:latin typeface="Helvetica Neue"/>
              </a:rPr>
              <a:t>P is capped at the strike. N takes the rest.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41144"/>
          <a:ext cx="6035040" cy="23390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SHARE AT MATURITY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P RECEIVES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N RECEIVES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$250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$250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Menlo"/>
                        </a:rPr>
                        <a:t>—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$400</a:t>
                      </a:r>
                      <a:r>
                        <a:rPr sz="1150" b="0">
                          <a:solidFill>
                            <a:srgbClr val="5C5C66"/>
                          </a:solidFill>
                          <a:latin typeface="Menlo"/>
                        </a:rPr>
                        <a:t>  START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$400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Menlo"/>
                        </a:rPr>
                        <a:t>—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$500</a:t>
                      </a:r>
                      <a:r>
                        <a:rPr sz="1150" b="0">
                          <a:solidFill>
                            <a:srgbClr val="5C5C66"/>
                          </a:solidFill>
                          <a:latin typeface="Menlo"/>
                        </a:rPr>
                        <a:t>  STRIKE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1814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$500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18140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Menlo"/>
                        </a:rPr>
                        <a:t>—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18140D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$600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$500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8B23A"/>
                          </a:solidFill>
                          <a:latin typeface="Menlo"/>
                        </a:rPr>
                        <a:t>$100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$1000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$500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8B23A"/>
                          </a:solidFill>
                          <a:latin typeface="Menlo"/>
                        </a:rPr>
                        <a:t>$500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654550"/>
            <a:ext cx="694944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One share bought at $400, capped at $500. Before the premium.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200631" y="3893192"/>
            <a:ext cx="3953435" cy="0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200631" y="1811049"/>
            <a:ext cx="3953435" cy="2082143"/>
          </a:xfrm>
          <a:prstGeom prst="line">
            <a:avLst/>
          </a:prstGeom>
          <a:ln w="12700">
            <a:solidFill>
              <a:srgbClr val="785D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9177348" y="1811049"/>
            <a:ext cx="1976718" cy="1041072"/>
          </a:xfrm>
          <a:custGeom>
            <a:avLst/>
            <a:gdLst/>
            <a:ahLst/>
            <a:cxnLst/>
            <a:rect l="l" t="t" r="r" b="b"/>
            <a:pathLst>
              <a:path w="1976718" h="1041072">
                <a:moveTo>
                  <a:pt x="0" y="1041072"/>
                </a:moveTo>
                <a:lnTo>
                  <a:pt x="1976718" y="0"/>
                </a:lnTo>
                <a:lnTo>
                  <a:pt x="1976718" y="1041072"/>
                </a:lnTo>
                <a:close/>
              </a:path>
            </a:pathLst>
          </a:custGeom>
          <a:solidFill>
            <a:srgbClr val="2C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177348" y="2852121"/>
            <a:ext cx="0" cy="1041071"/>
          </a:xfrm>
          <a:prstGeom prst="line">
            <a:avLst/>
          </a:prstGeom>
          <a:ln w="9525">
            <a:solidFill>
              <a:srgbClr val="8366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37268" y="4038151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33" b="0" spc="90">
                <a:solidFill>
                  <a:srgbClr val="8B8B95"/>
                </a:solidFill>
                <a:latin typeface="Menlo"/>
              </a:rPr>
              <a:t>STRIKE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200631" y="2852121"/>
            <a:ext cx="1976717" cy="1041071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77348" y="2852121"/>
            <a:ext cx="1976718" cy="0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72692" y="2643906"/>
            <a:ext cx="0" cy="1249286"/>
          </a:xfrm>
          <a:prstGeom prst="line">
            <a:avLst/>
          </a:prstGeom>
          <a:ln w="9525">
            <a:solidFill>
              <a:srgbClr val="783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526568" y="2597783"/>
            <a:ext cx="92246" cy="92246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26568" y="2805997"/>
            <a:ext cx="92246" cy="92246"/>
          </a:xfrm>
          <a:prstGeom prst="ellipse">
            <a:avLst/>
          </a:prstGeom>
          <a:solidFill>
            <a:srgbClr val="4A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3906" y="4038151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33" b="0" spc="90">
                <a:solidFill>
                  <a:srgbClr val="5C5C66"/>
                </a:solidFill>
                <a:latin typeface="Menlo"/>
              </a:rPr>
              <a:t>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1772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 spc="80">
                <a:solidFill>
                  <a:srgbClr val="4A9D7F"/>
                </a:solidFill>
                <a:latin typeface="Menlo"/>
              </a:rPr>
              <a:t>■ P</a:t>
            </a:r>
            <a:r>
              <a:rPr sz="850" b="0" spc="80">
                <a:solidFill>
                  <a:srgbClr val="8B8B95"/>
                </a:solidFill>
                <a:latin typeface="Menlo"/>
              </a:rPr>
              <a:t>     </a:t>
            </a:r>
            <a:r>
              <a:rPr sz="850" b="0" spc="80">
                <a:solidFill>
                  <a:srgbClr val="E8B23A"/>
                </a:solidFill>
                <a:latin typeface="Menlo"/>
              </a:rPr>
              <a:t>■ N</a:t>
            </a:r>
            <a:r>
              <a:rPr sz="850" b="0" spc="80">
                <a:solidFill>
                  <a:srgbClr val="8B8B95"/>
                </a:solidFill>
                <a:latin typeface="Menlo"/>
              </a:rPr>
              <a:t>     </a:t>
            </a:r>
            <a:r>
              <a:rPr sz="850" b="0" spc="80">
                <a:solidFill>
                  <a:srgbClr val="8B8B95"/>
                </a:solidFill>
                <a:latin typeface="Menlo"/>
              </a:rPr>
              <a:t>· · · UNCAPPED</a:t>
            </a:r>
            <a:r>
              <a:rPr sz="850" b="0" spc="80">
                <a:solidFill>
                  <a:srgbClr val="8B8B95"/>
                </a:solidFill>
                <a:latin typeface="Menlo"/>
              </a:rPr>
              <a:t>     </a:t>
            </a:r>
            <a:r>
              <a:rPr sz="850" b="0" spc="80">
                <a:solidFill>
                  <a:srgbClr val="E86A3A"/>
                </a:solidFill>
                <a:latin typeface="Menlo"/>
              </a:rPr>
              <a:t>│ $600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04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542471" y="2839211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04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THE PART THAT MUST NOT BE GLOSSED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595360" cy="1076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4000" b="1" spc="-105">
                <a:solidFill>
                  <a:srgbClr val="E05252"/>
                </a:solidFill>
                <a:latin typeface="Helvetica Neue"/>
              </a:rPr>
              <a:t>This is not</a:t>
            </a:r>
            <a:br/>
            <a:r>
              <a:rPr sz="4000" b="1" spc="-105">
                <a:solidFill>
                  <a:srgbClr val="E05252"/>
                </a:solidFill>
                <a:latin typeface="Helvetica Neue"/>
              </a:rPr>
              <a:t>downside protection.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56536"/>
            <a:ext cx="594360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Below the strike the </a:t>
            </a:r>
            <a:r>
              <a:rPr sz="1350" b="0">
                <a:solidFill>
                  <a:srgbClr val="4A9D7F"/>
                </a:solidFill>
                <a:latin typeface="Menlo"/>
              </a:rPr>
              <a:t>P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holder takes the full fall, exactly as they would holding the share. If it goes to </a:t>
            </a:r>
            <a:r>
              <a:rPr sz="1350" b="0">
                <a:solidFill>
                  <a:srgbClr val="8B8B95"/>
                </a:solidFill>
                <a:latin typeface="Menlo"/>
              </a:rPr>
              <a:t>$250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you lose </a:t>
            </a:r>
            <a:r>
              <a:rPr sz="1350" b="0">
                <a:solidFill>
                  <a:srgbClr val="8B8B95"/>
                </a:solidFill>
                <a:latin typeface="Menlo"/>
              </a:rPr>
              <a:t>$150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. The </a:t>
            </a:r>
            <a:r>
              <a:rPr sz="1350" b="0">
                <a:solidFill>
                  <a:srgbClr val="8B8B95"/>
                </a:solidFill>
                <a:latin typeface="Menlo"/>
              </a:rPr>
              <a:t>$15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premium is the </a:t>
            </a:r>
            <a:r>
              <a:rPr sz="1350" b="1">
                <a:solidFill>
                  <a:srgbClr val="EDEDF0"/>
                </a:solidFill>
                <a:latin typeface="Helvetica Neue"/>
              </a:rPr>
              <a:t>only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cushion. You have sold your upside, not bought insurance.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4420"/>
            <a:ext cx="5943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Any interface implying a floor — “protected”, “safe”, “hedged” — would be false, and the first person to read the contract would say so publicly.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7524436" y="2196711"/>
            <a:ext cx="3469341" cy="1827186"/>
          </a:xfrm>
          <a:prstGeom prst="line">
            <a:avLst/>
          </a:prstGeom>
          <a:ln w="12700">
            <a:solidFill>
              <a:srgbClr val="30271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9259106" y="2196711"/>
            <a:ext cx="1734671" cy="913593"/>
          </a:xfrm>
          <a:custGeom>
            <a:avLst/>
            <a:gdLst/>
            <a:ahLst/>
            <a:cxnLst/>
            <a:rect l="l" t="t" r="r" b="b"/>
            <a:pathLst>
              <a:path w="1734671" h="913593">
                <a:moveTo>
                  <a:pt x="0" y="913593"/>
                </a:moveTo>
                <a:lnTo>
                  <a:pt x="1734671" y="0"/>
                </a:lnTo>
                <a:lnTo>
                  <a:pt x="1734671" y="913593"/>
                </a:lnTo>
                <a:close/>
              </a:path>
            </a:pathLst>
          </a:custGeom>
          <a:solidFill>
            <a:srgbClr val="151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9259106" y="3110304"/>
            <a:ext cx="0" cy="913593"/>
          </a:xfrm>
          <a:prstGeom prst="line">
            <a:avLst/>
          </a:prstGeom>
          <a:ln w="9525">
            <a:solidFill>
              <a:srgbClr val="8366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19026" y="415110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0" spc="90">
                <a:solidFill>
                  <a:srgbClr val="8B8B95"/>
                </a:solidFill>
                <a:latin typeface="Menlo"/>
              </a:rPr>
              <a:t>STRIKE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524436" y="3110304"/>
            <a:ext cx="1734670" cy="913593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59106" y="3110304"/>
            <a:ext cx="1734671" cy="0"/>
          </a:xfrm>
          <a:prstGeom prst="line">
            <a:avLst/>
          </a:prstGeom>
          <a:ln w="22225">
            <a:solidFill>
              <a:srgbClr val="182D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13617" y="415110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19" b="0" spc="90">
                <a:solidFill>
                  <a:srgbClr val="5C5C66"/>
                </a:solidFill>
                <a:latin typeface="Menlo"/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572000"/>
            <a:ext cx="3931920" cy="1511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 spc="80">
                <a:solidFill>
                  <a:srgbClr val="5C5C66"/>
                </a:solidFill>
                <a:latin typeface="Menlo"/>
              </a:rPr>
              <a:t>NOTHING CATCHES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05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542471" y="3008376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05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HOW IT WORKS — 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03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000" b="1" spc="-105">
                <a:solidFill>
                  <a:srgbClr val="EDEDF0"/>
                </a:solidFill>
                <a:latin typeface="Helvetica Neue"/>
              </a:rPr>
              <a:t>Five instructions, and nobody who can pick the price.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83436"/>
          <a:ext cx="10515600" cy="2685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554480"/>
                <a:gridCol w="731520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INSTRUCTION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WHO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WHAT IT DOES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39674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split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Anyone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Locks collateral, mints equal </a:t>
                      </a:r>
                      <a:r>
                        <a:rPr sz="1100" b="0">
                          <a:solidFill>
                            <a:srgbClr val="4A9D7F"/>
                          </a:solidFill>
                          <a:latin typeface="Menlo"/>
                        </a:rPr>
                        <a:t>P</a:t>
                      </a: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 and </a:t>
                      </a:r>
                      <a:r>
                        <a:rPr sz="1100" b="0">
                          <a:solidFill>
                            <a:srgbClr val="E8B23A"/>
                          </a:solidFill>
                          <a:latin typeface="Menlo"/>
                        </a:rPr>
                        <a:t>N</a:t>
                      </a: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59232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merge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Anyone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Burns equal amounts of both, returns the share. Works while paused, so a pause never traps collateral behind existing claims.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59232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settle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Anyone, once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Reads a signed Pyth price and freezes the two pools. Permissionless: anyone can poke it, nobody chooses the number.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39674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redeem_p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4A9D7F"/>
                          </a:solidFill>
                          <a:latin typeface="Helvetica Neue"/>
                        </a:rPr>
                        <a:t>P holders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Pro-rata claim on the frozen pool for that side.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39674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redeem_n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8B23A"/>
                          </a:solidFill>
                          <a:latin typeface="Helvetica Neue"/>
                        </a:rPr>
                        <a:t>N holders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Pro-rata claim on the frozen pool for that side.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4506976"/>
            <a:ext cx="9692640" cy="1228598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4506976"/>
            <a:ext cx="23774" cy="1228598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4" y="4699000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5C66"/>
                </a:solidFill>
                <a:latin typeface="Menlo"/>
              </a:rPr>
              <a:t>-- the whole product, in three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910137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8B95"/>
                </a:solidFill>
                <a:latin typeface="Menlo"/>
              </a:rPr>
              <a:t>price &lt;= strike:  </a:t>
            </a:r>
            <a:r>
              <a:rPr sz="950" b="0">
                <a:solidFill>
                  <a:srgbClr val="EDEDF0"/>
                </a:solidFill>
                <a:latin typeface="Menlo"/>
              </a:rPr>
              <a:t>p_pool</a:t>
            </a:r>
            <a:r>
              <a:rPr sz="950" b="0">
                <a:solidFill>
                  <a:srgbClr val="8B8B95"/>
                </a:solidFill>
                <a:latin typeface="Menlo"/>
              </a:rPr>
              <a:t> = collateral                      </a:t>
            </a:r>
            <a:r>
              <a:rPr sz="950" b="0">
                <a:solidFill>
                  <a:srgbClr val="EDEDF0"/>
                </a:solidFill>
                <a:latin typeface="Menlo"/>
              </a:rPr>
              <a:t>n_pool</a:t>
            </a:r>
            <a:r>
              <a:rPr sz="950" b="0">
                <a:solidFill>
                  <a:srgbClr val="8B8B95"/>
                </a:solidFill>
                <a:latin typeface="Menlo"/>
              </a:rPr>
              <a:t>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5121274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8B95"/>
                </a:solidFill>
                <a:latin typeface="Menlo"/>
              </a:rPr>
              <a:t>price &gt;  strike:  </a:t>
            </a:r>
            <a:r>
              <a:rPr sz="950" b="0">
                <a:solidFill>
                  <a:srgbClr val="EDEDF0"/>
                </a:solidFill>
                <a:latin typeface="Menlo"/>
              </a:rPr>
              <a:t>p_pool</a:t>
            </a:r>
            <a:r>
              <a:rPr sz="950" b="0">
                <a:solidFill>
                  <a:srgbClr val="8B8B95"/>
                </a:solidFill>
                <a:latin typeface="Menlo"/>
              </a:rPr>
              <a:t> = floor(collateral*strike/price)  </a:t>
            </a:r>
            <a:r>
              <a:rPr sz="950" b="0">
                <a:solidFill>
                  <a:srgbClr val="EDEDF0"/>
                </a:solidFill>
                <a:latin typeface="Menlo"/>
              </a:rPr>
              <a:t>n_pool</a:t>
            </a:r>
            <a:r>
              <a:rPr sz="950" b="0">
                <a:solidFill>
                  <a:srgbClr val="8B8B95"/>
                </a:solidFill>
                <a:latin typeface="Menlo"/>
              </a:rPr>
              <a:t> = collateral - p_pool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5332412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EDF0"/>
                </a:solidFill>
                <a:latin typeface="Menlo"/>
              </a:rPr>
              <a:t>payout</a:t>
            </a:r>
            <a:r>
              <a:rPr sz="950" b="0">
                <a:solidFill>
                  <a:srgbClr val="8B8B95"/>
                </a:solidFill>
                <a:latin typeface="Menlo"/>
              </a:rPr>
              <a:t>          = floor(amount * pool / supply_at_settlement)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55029"/>
            <a:ext cx="1042416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Payouts floor, so total paid never exceeds collateral locked, in any redemption order. Rounding favours P, the senior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06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542471" y="3177539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06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HOW IT WORKS — THE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22960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600" b="1" spc="-105">
                <a:solidFill>
                  <a:srgbClr val="EDEDF0"/>
                </a:solidFill>
                <a:latin typeface="Helvetica Neue"/>
              </a:rPr>
              <a:t>Four programs and a shared math crate.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0545775" cy="2139315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3459403" y="1664208"/>
            <a:ext cx="0" cy="2139315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1664208"/>
            <a:ext cx="0" cy="2139315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32291" y="1664208"/>
            <a:ext cx="0" cy="2139315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1901952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31136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The vault and the settlement engine. Holds the collateral, owns the two mints, splits the pool at maturity.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5435" y="1901952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ORACLE-ADAPTER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435" y="2231136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Owns the FeedConfig accounts that make a feed's identity tamper-evident. Linked as a library, not a CPI target — the price account is in the transaction anyway.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1879" y="1901952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1879" y="2231136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Policy bounds, allowlists, and the canonical registry. Creation is permissionless; the registry decides what is canonical.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323" y="1901952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323" y="2231136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An order book for the two legs, with an ephemeral-rollup hot path. A prototype.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131"/>
            <a:ext cx="9509760" cy="771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No admin can touch active collateral. The series admin can pause and unpause splits, and sweep dust once both supplies are zero — that is the entire surface. It cannot settle, cannot change a term, and can be renounced permanently.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05400"/>
            <a:ext cx="950976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The factory has no power over a series it created, not even to pause one. Front ends must list from the registry's SeriesRecord, never from the series program's accounts at large.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07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542471" y="3346703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07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WHY IT IS NOT TRIVIAL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376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800" b="1" spc="-105">
                <a:solidFill>
                  <a:srgbClr val="EDEDF0"/>
                </a:solidFill>
                <a:latin typeface="Helvetica Neue"/>
              </a:rPr>
              <a:t>The issuer keeps five levers over anything in the vault.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6512"/>
            <a:ext cx="1042416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The collateral is a Token-2022 mint. This is not a protocol whose security can exceed the issuer's honesty, and the design says so rather than papering over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86102"/>
          <a:ext cx="10515600" cy="2685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3840480"/>
                <a:gridCol w="457200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LEVER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WHAT THE ISSUER CAN DO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WHAT THE PROTOCOL DOES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59232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permanentDelegate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Move or burn collateral out of a vault, at any time, with no consent.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Redemption prices the shortfall proportionally instead of paying first-come.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39674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scaledUiAmount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Rebase every balance for a corporate action.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The strike is adjusted by the same ratio at settlement.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39674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transferHook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Arm a blocklist without redeploying the mint.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Every collateral movement resolves hook accounts from day one.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59232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pausableConfig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Halt all transfers globally.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Transfers revert loudly; settle still works, so a pause delays redemption rather than losing it.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39674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EDEDF0"/>
                          </a:solidFill>
                          <a:latin typeface="Menlo"/>
                        </a:rPr>
                        <a:t>freeze authority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Freeze the vault's token account.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00" b="0">
                          <a:solidFill>
                            <a:srgbClr val="8B8B95"/>
                          </a:solidFill>
                          <a:latin typeface="Helvetica Neue"/>
                        </a:rPr>
                        <a:t>Same as a pause, scoped to one series.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4954778"/>
            <a:ext cx="9692640" cy="1228598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" y="4954778"/>
            <a:ext cx="23774" cy="1228598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0704" y="5146802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5C66"/>
                </a:solidFill>
                <a:latin typeface="Menlo"/>
              </a:rPr>
              <a:t>-- a drained vault, priced rather than gated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5357939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8B95"/>
                </a:solidFill>
                <a:latin typeface="Menlo"/>
              </a:rPr>
              <a:t>available = vault_balance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5569076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B8B95"/>
                </a:solidFill>
                <a:latin typeface="Menlo"/>
              </a:rPr>
              <a:t>expected  = (p_pool - p_redeemed) + (n_pool - n_redeemed)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5780214"/>
            <a:ext cx="9235440" cy="211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EDF0"/>
                </a:solidFill>
                <a:latin typeface="Menlo"/>
              </a:rPr>
              <a:t>payout</a:t>
            </a:r>
            <a:r>
              <a:rPr sz="950" b="0">
                <a:solidFill>
                  <a:srgbClr val="8B8B95"/>
                </a:solidFill>
                <a:latin typeface="Menlo"/>
              </a:rPr>
              <a:t>    = floor(quoted * available / expected)   </a:t>
            </a:r>
            <a:r>
              <a:rPr sz="950" b="0">
                <a:solidFill>
                  <a:srgbClr val="5C5C66"/>
                </a:solidFill>
                <a:latin typeface="Menlo"/>
              </a:rPr>
              <a:t>when available &lt; 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08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542471" y="3515868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08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THE BUG THAT LOOKS BORING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6035040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600" b="1" spc="-105">
                <a:solidFill>
                  <a:srgbClr val="EDEDF0"/>
                </a:solidFill>
                <a:latin typeface="Helvetica Neue"/>
              </a:rPr>
              <a:t>A stock split would</a:t>
            </a:r>
            <a:br/>
            <a:r>
              <a:rPr sz="3600" b="1" spc="-105">
                <a:solidFill>
                  <a:srgbClr val="EDEDF0"/>
                </a:solidFill>
                <a:latin typeface="Helvetica Neue"/>
              </a:rPr>
              <a:t>silently wipe out 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39"/>
            <a:ext cx="594360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A 2-for-1 split halves the price to </a:t>
            </a:r>
            <a:r>
              <a:rPr sz="1350" b="0">
                <a:solidFill>
                  <a:srgbClr val="8B8B95"/>
                </a:solidFill>
                <a:latin typeface="Menlo"/>
              </a:rPr>
              <a:t>$300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and doubles every balance. A naive contract compares </a:t>
            </a:r>
            <a:r>
              <a:rPr sz="1350" b="0">
                <a:solidFill>
                  <a:srgbClr val="8B8B95"/>
                </a:solidFill>
                <a:latin typeface="Menlo"/>
              </a:rPr>
              <a:t>$300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against the stored </a:t>
            </a:r>
            <a:r>
              <a:rPr sz="1350" b="0">
                <a:solidFill>
                  <a:srgbClr val="8B8B95"/>
                </a:solidFill>
                <a:latin typeface="Menlo"/>
              </a:rPr>
              <a:t>$500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strike, concludes “below strike”, and hands everything to </a:t>
            </a:r>
            <a:r>
              <a:rPr sz="1350" b="0">
                <a:solidFill>
                  <a:srgbClr val="4A9D7F"/>
                </a:solidFill>
                <a:latin typeface="Menlo"/>
              </a:rPr>
              <a:t>P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— destroying </a:t>
            </a:r>
            <a:r>
              <a:rPr sz="1350" b="0">
                <a:solidFill>
                  <a:srgbClr val="E8B23A"/>
                </a:solidFill>
                <a:latin typeface="Menlo"/>
              </a:rPr>
              <a:t>N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in an event where nobody lost a penny.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15283"/>
            <a:ext cx="5943600" cy="828548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3415283"/>
            <a:ext cx="23774" cy="828548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4" y="3607307"/>
            <a:ext cx="54864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5C66"/>
                </a:solidFill>
                <a:latin typeface="Menlo"/>
              </a:rPr>
              <a:t>-- resolved at the price timestamp, never the clock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3829557"/>
            <a:ext cx="5486400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DEDF0"/>
                </a:solidFill>
                <a:latin typeface="Menlo"/>
              </a:rPr>
              <a:t>effective_strike</a:t>
            </a:r>
            <a:r>
              <a:rPr sz="1000" b="0">
                <a:solidFill>
                  <a:srgbClr val="8B8B95"/>
                </a:solidFill>
                <a:latin typeface="Menlo"/>
              </a:rPr>
              <a:t> = ceil(strike * m_creation / m_settlement)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18151"/>
            <a:ext cx="59436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The stored strike is never mutated, both multipliers are recorded so any payout can be audited afterwards, and creation refuses a series that would span a corporate action already scheduled.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24436" y="4115337"/>
            <a:ext cx="3469341" cy="0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524436" y="2288151"/>
            <a:ext cx="3469341" cy="1827186"/>
          </a:xfrm>
          <a:prstGeom prst="line">
            <a:avLst/>
          </a:prstGeom>
          <a:ln w="12700">
            <a:solidFill>
              <a:srgbClr val="4B3B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8391771" y="2288151"/>
            <a:ext cx="2602006" cy="1370390"/>
          </a:xfrm>
          <a:custGeom>
            <a:avLst/>
            <a:gdLst/>
            <a:ahLst/>
            <a:cxnLst/>
            <a:rect l="l" t="t" r="r" b="b"/>
            <a:pathLst>
              <a:path w="2602006" h="1370390">
                <a:moveTo>
                  <a:pt x="0" y="1370390"/>
                </a:moveTo>
                <a:lnTo>
                  <a:pt x="2602006" y="0"/>
                </a:lnTo>
                <a:lnTo>
                  <a:pt x="2602006" y="1370390"/>
                </a:lnTo>
                <a:close/>
              </a:path>
            </a:pathLst>
          </a:custGeom>
          <a:solidFill>
            <a:srgbClr val="272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9259106" y="3201744"/>
            <a:ext cx="0" cy="913593"/>
          </a:xfrm>
          <a:prstGeom prst="line">
            <a:avLst/>
          </a:prstGeom>
          <a:ln w="9525">
            <a:solidFill>
              <a:srgbClr val="5C5C6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19026" y="424254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0" spc="90">
                <a:solidFill>
                  <a:srgbClr val="5C5C66"/>
                </a:solidFill>
                <a:latin typeface="Menlo"/>
              </a:rPr>
              <a:t>STORED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391771" y="3658541"/>
            <a:ext cx="0" cy="456796"/>
          </a:xfrm>
          <a:prstGeom prst="line">
            <a:avLst/>
          </a:prstGeom>
          <a:ln w="9525">
            <a:solidFill>
              <a:srgbClr val="8366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51691" y="424254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0" spc="90">
                <a:solidFill>
                  <a:srgbClr val="8B8B95"/>
                </a:solidFill>
                <a:latin typeface="Menlo"/>
              </a:rPr>
              <a:t>ADJUSTED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524436" y="3658541"/>
            <a:ext cx="867335" cy="456796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91771" y="3658541"/>
            <a:ext cx="2602006" cy="0"/>
          </a:xfrm>
          <a:prstGeom prst="line">
            <a:avLst/>
          </a:prstGeom>
          <a:ln w="22225">
            <a:solidFill>
              <a:srgbClr val="4A9D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565238" y="3567181"/>
            <a:ext cx="0" cy="548156"/>
          </a:xfrm>
          <a:prstGeom prst="line">
            <a:avLst/>
          </a:prstGeom>
          <a:ln w="9525">
            <a:solidFill>
              <a:srgbClr val="783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524762" y="3526706"/>
            <a:ext cx="80951" cy="80951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4762" y="3618065"/>
            <a:ext cx="80951" cy="80951"/>
          </a:xfrm>
          <a:prstGeom prst="ellipse">
            <a:avLst/>
          </a:prstGeom>
          <a:solidFill>
            <a:srgbClr val="4A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3617" y="424254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19" b="0" spc="90">
                <a:solidFill>
                  <a:srgbClr val="5C5C66"/>
                </a:solidFill>
                <a:latin typeface="Menlo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617720"/>
            <a:ext cx="3931920" cy="3022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 spc="80">
                <a:solidFill>
                  <a:srgbClr val="5C5C66"/>
                </a:solidFill>
                <a:latin typeface="Menlo"/>
              </a:rPr>
              <a:t>POST-SPLIT THE PRICE LANDS AT $300 — RIGHT OF THE ADJUSTED STRIKE, LEFT OF THE STORED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09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1542471" y="3685031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09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SETTLING ON A REAL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3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200" b="1" spc="-105">
                <a:solidFill>
                  <a:srgbClr val="EDEDF0"/>
                </a:solidFill>
                <a:latin typeface="Helvetica Neue"/>
              </a:rPr>
              <a:t>Tesla trades weekdays. The token trades always.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10360"/>
            <a:ext cx="950976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A price at 3am on a Sunday is not a market price, it is noise on a thin book — and settling real money against it would be a gift to whoever nudged it. The design assumed Pyth publishes a trading status to gate on. </a:t>
            </a:r>
            <a:r>
              <a:rPr sz="1350" b="1">
                <a:solidFill>
                  <a:srgbClr val="EDEDF0"/>
                </a:solidFill>
                <a:latin typeface="Helvetica Neue"/>
              </a:rPr>
              <a:t>It does not: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the account the Solana receiver actually writes carries price, confidence, exponent and publish time, and nothing about whether the market was open.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76804"/>
            <a:ext cx="9692640" cy="1550860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2876804"/>
            <a:ext cx="23774" cy="1550860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4" y="3068827"/>
            <a:ext cx="9235440" cy="2333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5C66"/>
                </a:solidFill>
                <a:latin typeface="Menlo"/>
              </a:rPr>
              <a:t>-- so the requirement is met structurally instead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3302190"/>
            <a:ext cx="9235440" cy="2333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8B95"/>
                </a:solidFill>
                <a:latin typeface="Menlo"/>
              </a:rPr>
              <a:t>accept a quote only if  </a:t>
            </a:r>
            <a:r>
              <a:rPr sz="1050" b="0">
                <a:solidFill>
                  <a:srgbClr val="EDEDF0"/>
                </a:solidFill>
                <a:latin typeface="Menlo"/>
              </a:rPr>
              <a:t>publish_time</a:t>
            </a:r>
            <a:r>
              <a:rPr sz="1050" b="0">
                <a:solidFill>
                  <a:srgbClr val="8B8B95"/>
                </a:solidFill>
                <a:latin typeface="Menlo"/>
              </a:rPr>
              <a:t>  ∈  [ maturity_ts , maturity_ts + max_price_lag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535552"/>
            <a:ext cx="9235440" cy="2333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60704" y="3768915"/>
            <a:ext cx="9235440" cy="2333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5C66"/>
                </a:solidFill>
                <a:latin typeface="Menlo"/>
              </a:rPr>
              <a:t>-- and refuse a tuple where no quote could ever qualify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4002277"/>
            <a:ext cx="9235440" cy="2333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8B95"/>
                </a:solidFill>
                <a:latin typeface="Menlo"/>
              </a:rPr>
              <a:t>settlement_delay &lt;= max_price_lag + min(series_max_age, feed_max_age)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28832"/>
            <a:ext cx="10545775" cy="1503997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4338218" y="4628832"/>
            <a:ext cx="0" cy="1503997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53476" y="4628832"/>
            <a:ext cx="0" cy="1503997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8992" y="4866576"/>
            <a:ext cx="300319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MATURITY AT A REAL 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195760"/>
            <a:ext cx="3003194" cy="7267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Computed off-chain per maturity and frozen at creation, keeping trading calendars and holidays out of the program.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4866576"/>
            <a:ext cx="300319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FEED IDENTITY IS IMMUTABLE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5195760"/>
            <a:ext cx="3003194" cy="7267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The feed id cannot change after creation. Only the source account can rotate, and its embedded id is checked every 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9508" y="4866576"/>
            <a:ext cx="300319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SIGNATURES HAVE A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9508" y="5195760"/>
            <a:ext cx="3003194" cy="7267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A partially verified update below the configured signature count is rejected. A one-signature update is cheap to forge.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10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542471" y="3854196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10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WHY AN EPHEMERAL ROLLUP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5760720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600" b="1" spc="-105">
                <a:solidFill>
                  <a:srgbClr val="EDEDF0"/>
                </a:solidFill>
                <a:latin typeface="Helvetica Neue"/>
              </a:rPr>
              <a:t>A maker who cannot</a:t>
            </a:r>
            <a:br/>
            <a:r>
              <a:rPr sz="3600" b="1" spc="-105">
                <a:solidFill>
                  <a:srgbClr val="EDEDF0"/>
                </a:solidFill>
                <a:latin typeface="Helvetica Neue"/>
              </a:rPr>
              <a:t>reprice will not quote.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39"/>
            <a:ext cx="5669280" cy="1285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The premium is the </a:t>
            </a:r>
            <a:r>
              <a:rPr sz="1350" b="0">
                <a:solidFill>
                  <a:srgbClr val="4A9D7F"/>
                </a:solidFill>
                <a:latin typeface="Menlo"/>
              </a:rPr>
              <a:t>P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holder's entire compensation, and it only exists if somebody can profitably quote </a:t>
            </a:r>
            <a:r>
              <a:rPr sz="1350" b="0">
                <a:solidFill>
                  <a:srgbClr val="E8B23A"/>
                </a:solidFill>
                <a:latin typeface="Menlo"/>
              </a:rPr>
              <a:t>N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. An options maker reprices as spot moves — hundreds of updates an hour against very little volume. At a fee and 400ms each, the spread needed to break even is wider than the premium is worth.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72458"/>
            <a:ext cx="566928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So exactly one account is delegated: the </a:t>
            </a:r>
            <a:r>
              <a:rPr sz="1350" b="0">
                <a:solidFill>
                  <a:srgbClr val="8B8B95"/>
                </a:solidFill>
                <a:latin typeface="Menlo"/>
              </a:rPr>
              <a:t>Book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for a leg, holding orders and per-trader balances together. </a:t>
            </a:r>
            <a:r>
              <a:rPr sz="1350" b="1">
                <a:solidFill>
                  <a:srgbClr val="EDEDF0"/>
                </a:solidFill>
                <a:latin typeface="Helvetica Neue"/>
              </a:rPr>
              <a:t>Everything that holds value stays on Solana.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Placing, cancelling and filling take no token accounts at all.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783080"/>
          <a:ext cx="4572000" cy="23390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MEASURED ON A LOCAL STACK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LATENCY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Place an order in the rollup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7–17 ms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Fill an order in the rollup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6–12 ms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Commit accepted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4A9D7F"/>
                          </a:solidFill>
                          <a:latin typeface="Menlo"/>
                        </a:rPr>
                        <a:t>5–20 ms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Committed state visible on L1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8B23A"/>
                          </a:solidFill>
                          <a:latin typeface="Menlo"/>
                        </a:rPr>
                        <a:t>~510 ms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Undelegate round trip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8B23A"/>
                          </a:solidFill>
                          <a:latin typeface="Menlo"/>
                        </a:rPr>
                        <a:t>~515 ms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4396486"/>
            <a:ext cx="4572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The gap between those two groups is the whole argument for the split. Quoting is instant; touching the base layer costs half a second, and a maker repricing a hundred times a minute can afford exactly one of those.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11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542471" y="4023360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11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WHAT IS ACTUALLY PROVEN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86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200" b="1" spc="-105">
                <a:solidFill>
                  <a:srgbClr val="EDEDF0"/>
                </a:solidFill>
                <a:latin typeface="Helvetica Neue"/>
              </a:rPr>
              <a:t>The numbers a protocol with no TVL can honestly show.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41144"/>
          <a:ext cx="10515600" cy="254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371600"/>
                <a:gridCol w="621792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TIER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COUNT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900" b="0" spc="110">
                          <a:solidFill>
                            <a:srgbClr val="8B8B95"/>
                          </a:solidFill>
                          <a:latin typeface="Menlo"/>
                        </a:rPr>
                        <a:t>WHAT ONLY IT CAN REACH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212127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Helvetica Neue"/>
                        </a:rPr>
                        <a:t>Native unit + property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98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The payoff and matching math and every guard, sub-second, no validator.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Helvetica Neue"/>
                        </a:rPr>
                        <a:t>End-to-end, local validator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12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Account constraints, the factory→series CPI, real Token-2022 collateral, an armed transfer hook, settlement against real Pyth account bytes.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Helvetica Neue"/>
                        </a:rPr>
                        <a:t>Order book on devnet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Menlo"/>
                        </a:rPr>
                        <a:t>10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Happy-path behaviour of the deployed prototype. Not adversarial rounding.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Helvetica Neue"/>
                        </a:rPr>
                        <a:t>Oracle on devnet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05252"/>
                          </a:solidFill>
                          <a:latin typeface="Menlo"/>
                        </a:rPr>
                        <a:t>5 skipped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Detects a deployment/IDL mismatch and skips loudly until redeployment.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  <a:tr h="405637"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DEDF0"/>
                          </a:solidFill>
                          <a:latin typeface="Helvetica Neue"/>
                        </a:rPr>
                        <a:t>External audits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E05252"/>
                          </a:solidFill>
                          <a:latin typeface="Menlo"/>
                        </a:rPr>
                        <a:t>0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sz="1150" b="0">
                          <a:solidFill>
                            <a:srgbClr val="8B8B95"/>
                          </a:solidFill>
                          <a:latin typeface="Helvetica Neue"/>
                        </a:rPr>
                        <a:t>Internal review only: six findings, all fixed. That is not an audit.</a:t>
                      </a:r>
                    </a:p>
                  </a:txBody>
                  <a:tcPr marL="0" marR="201168" marT="73152" marB="73152" anchor="t">
                    <a:lnB w="9525" cap="flat" cmpd="sng" algn="ctr">
                      <a:solidFill>
                        <a:srgbClr val="1A1A1F"/>
                      </a:solidFill>
                    </a:lnB>
                    <a:solidFill>
                      <a:srgbClr val="08080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59019"/>
            <a:ext cx="950976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The two scenarios the design exists for are both verified on a validator against a real Token-2022 mint: </a:t>
            </a:r>
            <a:r>
              <a:rPr sz="1350" b="1">
                <a:solidFill>
                  <a:srgbClr val="EDEDF0"/>
                </a:solidFill>
                <a:latin typeface="Helvetica Neue"/>
              </a:rPr>
              <a:t>the split that would have wiped out N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, and </a:t>
            </a:r>
            <a:r>
              <a:rPr sz="1350" b="1">
                <a:solidFill>
                  <a:srgbClr val="EDEDF0"/>
                </a:solidFill>
                <a:latin typeface="Helvetica Neue"/>
              </a:rPr>
              <a:t>the drain of a settled vault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 that pays every redeemer the same haircut.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12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542471" y="4192524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620195" y="436168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60">
                <a:solidFill>
                  <a:srgbClr val="EDEDF0"/>
                </a:solidFill>
                <a:latin typeface="Menlo"/>
              </a:rPr>
              <a:t>12   </a:t>
            </a:r>
            <a:r>
              <a:rPr sz="950" b="0" spc="160">
                <a:solidFill>
                  <a:srgbClr val="8B8B95"/>
                </a:solidFill>
                <a:latin typeface="Menlo"/>
              </a:rPr>
              <a:t>WHAT IS NOT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509760" cy="915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400" b="1" spc="-105">
                <a:solidFill>
                  <a:srgbClr val="EDEDF0"/>
                </a:solidFill>
                <a:latin typeface="Helvetica Neue"/>
              </a:rPr>
              <a:t>The contract works with zero users. The product does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94991"/>
            <a:ext cx="950976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B8B95"/>
                </a:solidFill>
                <a:latin typeface="Helvetica Neue"/>
              </a:rPr>
              <a:t>Your entire compensation for capping your upside is that </a:t>
            </a:r>
            <a:r>
              <a:rPr sz="1350" b="0">
                <a:solidFill>
                  <a:srgbClr val="8B8B95"/>
                </a:solidFill>
                <a:latin typeface="Menlo"/>
              </a:rPr>
              <a:t>$15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, and it only exists if somebody actually wants to buy </a:t>
            </a:r>
            <a:r>
              <a:rPr sz="1350" b="0">
                <a:solidFill>
                  <a:srgbClr val="E8B23A"/>
                </a:solidFill>
                <a:latin typeface="Menlo"/>
              </a:rPr>
              <a:t>N</a:t>
            </a:r>
            <a:r>
              <a:rPr sz="1350" b="0">
                <a:solidFill>
                  <a:srgbClr val="8B8B95"/>
                </a:solidFill>
                <a:latin typeface="Helvetica Neue"/>
              </a:rPr>
              <a:t>. Nobody has committed yet. That is not an engineering problem and no amount of code fixes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47086"/>
            <a:ext cx="10545775" cy="2139315"/>
          </a:xfrm>
          <a:prstGeom prst="rect">
            <a:avLst/>
          </a:prstGeom>
          <a:solidFill>
            <a:srgbClr val="0F0F12"/>
          </a:solidFill>
          <a:ln w="9525">
            <a:solidFill>
              <a:srgbClr val="212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3459403" y="2847086"/>
            <a:ext cx="0" cy="2139315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2847086"/>
            <a:ext cx="0" cy="2139315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291" y="2847086"/>
            <a:ext cx="0" cy="2139315"/>
          </a:xfrm>
          <a:prstGeom prst="line">
            <a:avLst/>
          </a:prstGeom>
          <a:ln w="9525">
            <a:solidFill>
              <a:srgbClr val="212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8992" y="3084830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N 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14014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Unsolved, and the real risk to the product. Seeding a maker, a Dutch auction at creation, or an existing options desk — all commercial decisions, none evaluated.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435" y="3084830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DIVIDENDS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435" y="3414014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A rebased cash dividend moves value from P to N, the wrong way, and nothing on-chain distinguishes it from a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1879" y="3084830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THE MARKET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3414014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A prototype with unresolved accounting and initialization findings. Deployment is not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323" y="3084830"/>
            <a:ext cx="212437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20">
                <a:solidFill>
                  <a:srgbClr val="8B8B95"/>
                </a:solidFill>
                <a:latin typeface="Menlo"/>
              </a:rPr>
              <a:t>MAINNET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323" y="3414014"/>
            <a:ext cx="2124379" cy="1362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8B8B95"/>
                </a:solidFill>
                <a:latin typeface="Helvetica Neue"/>
              </a:rPr>
              <a:t>Not deployed. Series and factory are not even on devnet — together they need about 5.9 SOL of rent and the faucet is capped.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79009"/>
            <a:ext cx="1042416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C5C66"/>
                </a:solidFill>
                <a:latin typeface="Helvetica Neue"/>
              </a:rPr>
              <a:t>erodoro   ·   Apache-2.0   ·   Solana · Pyth · Token-2022 · MagicBlock   ·   </a:t>
            </a:r>
            <a:r>
              <a:rPr sz="1000" b="0">
                <a:solidFill>
                  <a:srgbClr val="E05252"/>
                </a:solidFill>
                <a:latin typeface="Helvetica Neue"/>
              </a:rPr>
              <a:t>Not on mainnet — nothing here holds real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spc="140">
                <a:solidFill>
                  <a:srgbClr val="EDEDF0"/>
                </a:solidFill>
                <a:latin typeface="Menlo"/>
              </a:rPr>
              <a:t>13</a:t>
            </a:r>
            <a:r>
              <a:rPr sz="900" b="0" spc="140">
                <a:solidFill>
                  <a:srgbClr val="8B8B95"/>
                </a:solidFill>
                <a:latin typeface="Menlo"/>
              </a:rPr>
              <a:t> /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20195" y="233172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620195" y="250088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620195" y="267004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20195" y="283921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620195" y="300837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620195" y="3177539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620195" y="3346703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20195" y="3515868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620195" y="3685031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1620195" y="3854196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620195" y="4023360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620195" y="4192524"/>
            <a:ext cx="96012" cy="19202"/>
          </a:xfrm>
          <a:prstGeom prst="rect">
            <a:avLst/>
          </a:prstGeom>
          <a:solidFill>
            <a:srgbClr val="21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542471" y="4361688"/>
            <a:ext cx="173736" cy="19202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